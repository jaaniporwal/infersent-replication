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74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1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1A"/>
                </a:solidFill>
                <a:latin typeface="Arial"/>
              </a:rPr>
              <a:t>Accuracy (%) per epoch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81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73.5</c:v>
                </c:pt>
                <c:pt idx="1">
                  <c:v>80.900000000000006</c:v>
                </c:pt>
                <c:pt idx="2">
                  <c:v>82.9</c:v>
                </c:pt>
                <c:pt idx="3">
                  <c:v>84.4</c:v>
                </c:pt>
                <c:pt idx="4">
                  <c:v>85.9</c:v>
                </c:pt>
                <c:pt idx="5">
                  <c:v>87.1</c:v>
                </c:pt>
                <c:pt idx="6">
                  <c:v>92.3</c:v>
                </c:pt>
                <c:pt idx="7">
                  <c:v>95.4</c:v>
                </c:pt>
                <c:pt idx="8">
                  <c:v>96.3</c:v>
                </c:pt>
                <c:pt idx="9">
                  <c:v>96.4</c:v>
                </c:pt>
                <c:pt idx="10">
                  <c:v>96.6</c:v>
                </c:pt>
                <c:pt idx="11">
                  <c:v>96.6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9B-4472-892C-FA3C77F38F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 accuracy</c:v>
                </c:pt>
              </c:strCache>
            </c:strRef>
          </c:tx>
          <c:spPr>
            <a:ln w="38100" cap="flat">
              <a:solidFill>
                <a:srgbClr val="B7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71C1C"/>
              </a:solidFill>
              <a:ln w="9525" cap="flat">
                <a:solidFill>
                  <a:srgbClr val="B71C1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80.2</c:v>
                </c:pt>
                <c:pt idx="1">
                  <c:v>81.900000000000006</c:v>
                </c:pt>
                <c:pt idx="2">
                  <c:v>83</c:v>
                </c:pt>
                <c:pt idx="3">
                  <c:v>83.7</c:v>
                </c:pt>
                <c:pt idx="4">
                  <c:v>83.8</c:v>
                </c:pt>
                <c:pt idx="5">
                  <c:v>83.5</c:v>
                </c:pt>
                <c:pt idx="6">
                  <c:v>83.6</c:v>
                </c:pt>
                <c:pt idx="7">
                  <c:v>83.8</c:v>
                </c:pt>
                <c:pt idx="8">
                  <c:v>83.9</c:v>
                </c:pt>
                <c:pt idx="9">
                  <c:v>83.8</c:v>
                </c:pt>
                <c:pt idx="10">
                  <c:v>83.9</c:v>
                </c:pt>
                <c:pt idx="11">
                  <c:v>83.8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9B-4472-892C-FA3C77F38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1A"/>
                </a:solidFill>
                <a:latin typeface="Arial"/>
              </a:rPr>
              <a:t>SNLI test accuracy (%), paper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SNLI test accuracy (paper)</c:v>
                </c:pt>
              </c:strCache>
            </c:strRef>
          </c:tx>
          <c:spPr>
            <a:solidFill>
              <a:srgbClr val="F4B6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B6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19-4C9B-BEEA-4744D0323F54}"/>
              </c:ext>
            </c:extLst>
          </c:dPt>
          <c:dPt>
            <c:idx val="1"/>
            <c:invertIfNegative val="0"/>
            <c:bubble3D val="0"/>
            <c:spPr>
              <a:solidFill>
                <a:srgbClr val="F4B6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19-4C9B-BEEA-4744D0323F54}"/>
              </c:ext>
            </c:extLst>
          </c:dPt>
          <c:dPt>
            <c:idx val="2"/>
            <c:invertIfNegative val="0"/>
            <c:bubble3D val="0"/>
            <c:spPr>
              <a:solidFill>
                <a:srgbClr val="F4B6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19-4C9B-BEEA-4744D0323F54}"/>
              </c:ext>
            </c:extLst>
          </c:dPt>
          <c:dPt>
            <c:idx val="3"/>
            <c:invertIfNegative val="0"/>
            <c:bubble3D val="0"/>
            <c:spPr>
              <a:solidFill>
                <a:srgbClr val="F4B6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19-4C9B-BEEA-4744D0323F54}"/>
              </c:ext>
            </c:extLst>
          </c:dPt>
          <c:dPt>
            <c:idx val="4"/>
            <c:invertIfNegative val="0"/>
            <c:bubble3D val="0"/>
            <c:spPr>
              <a:solidFill>
                <a:srgbClr val="F4B6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119-4C9B-BEEA-4744D0323F54}"/>
              </c:ext>
            </c:extLst>
          </c:dPt>
          <c:dPt>
            <c:idx val="5"/>
            <c:invertIfNegative val="0"/>
            <c:bubble3D val="0"/>
            <c:spPr>
              <a:solidFill>
                <a:srgbClr val="F4B6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119-4C9B-BEEA-4744D0323F54}"/>
              </c:ext>
            </c:extLst>
          </c:dPt>
          <c:dPt>
            <c:idx val="6"/>
            <c:invertIfNegative val="0"/>
            <c:bubble3D val="0"/>
            <c:spPr>
              <a:solidFill>
                <a:srgbClr val="7A0C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119-4C9B-BEEA-4744D0323F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LSTM</c:v>
                </c:pt>
                <c:pt idx="1">
                  <c:v>GRU</c:v>
                </c:pt>
                <c:pt idx="2">
                  <c:v>BiGRU-last</c:v>
                </c:pt>
                <c:pt idx="3">
                  <c:v>BiLSTM-mean</c:v>
                </c:pt>
                <c:pt idx="4">
                  <c:v>Inner-att.</c:v>
                </c:pt>
                <c:pt idx="5">
                  <c:v>HConvNet</c:v>
                </c:pt>
                <c:pt idx="6">
                  <c:v>BiLSTM-max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80.7</c:v>
                </c:pt>
                <c:pt idx="1">
                  <c:v>81.8</c:v>
                </c:pt>
                <c:pt idx="2">
                  <c:v>80.900000000000006</c:v>
                </c:pt>
                <c:pt idx="3">
                  <c:v>78.2</c:v>
                </c:pt>
                <c:pt idx="4">
                  <c:v>82.5</c:v>
                </c:pt>
                <c:pt idx="5">
                  <c:v>83.4</c:v>
                </c:pt>
                <c:pt idx="6">
                  <c:v>84.5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119-4C9B-BEEA-4744D0323F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8"/>
          <c:min val="7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1A"/>
                </a:solidFill>
                <a:latin typeface="Arial"/>
              </a:rPr>
              <a:t>Accuracy (%), paper vs ours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MR</c:v>
                </c:pt>
                <c:pt idx="1">
                  <c:v>CR</c:v>
                </c:pt>
                <c:pt idx="2">
                  <c:v>SUBJ</c:v>
                </c:pt>
                <c:pt idx="3">
                  <c:v>MPQA</c:v>
                </c:pt>
                <c:pt idx="4">
                  <c:v>SST</c:v>
                </c:pt>
                <c:pt idx="5">
                  <c:v>TREC</c:v>
                </c:pt>
                <c:pt idx="6">
                  <c:v>MRPC</c:v>
                </c:pt>
                <c:pt idx="7">
                  <c:v>SICK-E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79.900000000000006</c:v>
                </c:pt>
                <c:pt idx="1">
                  <c:v>84.6</c:v>
                </c:pt>
                <c:pt idx="2">
                  <c:v>92.1</c:v>
                </c:pt>
                <c:pt idx="3">
                  <c:v>89.8</c:v>
                </c:pt>
                <c:pt idx="4">
                  <c:v>83.3</c:v>
                </c:pt>
                <c:pt idx="5">
                  <c:v>88.7</c:v>
                </c:pt>
                <c:pt idx="6">
                  <c:v>75.099999999999994</c:v>
                </c:pt>
                <c:pt idx="7">
                  <c:v>86.3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30-44C4-9A6B-6E8C3DB739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MR</c:v>
                </c:pt>
                <c:pt idx="1">
                  <c:v>CR</c:v>
                </c:pt>
                <c:pt idx="2">
                  <c:v>SUBJ</c:v>
                </c:pt>
                <c:pt idx="3">
                  <c:v>MPQA</c:v>
                </c:pt>
                <c:pt idx="4">
                  <c:v>SST</c:v>
                </c:pt>
                <c:pt idx="5">
                  <c:v>TREC</c:v>
                </c:pt>
                <c:pt idx="6">
                  <c:v>MRPC</c:v>
                </c:pt>
                <c:pt idx="7">
                  <c:v>SICK-E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78.2</c:v>
                </c:pt>
                <c:pt idx="1">
                  <c:v>82.3</c:v>
                </c:pt>
                <c:pt idx="2">
                  <c:v>92.2</c:v>
                </c:pt>
                <c:pt idx="3">
                  <c:v>88.5</c:v>
                </c:pt>
                <c:pt idx="4">
                  <c:v>81.900000000000006</c:v>
                </c:pt>
                <c:pt idx="5">
                  <c:v>89.2</c:v>
                </c:pt>
                <c:pt idx="6">
                  <c:v>74.3</c:v>
                </c:pt>
                <c:pt idx="7">
                  <c:v>84.4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30-44C4-9A6B-6E8C3DB739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5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65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paper, the authors and that this is a replication done in PyTorch on Kaggle.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embeddings (GloVe, word2vec) are common. Many tasks need one vector for a whole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4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embeddings (GloVe, word2vec) are common. Many tasks need one vector for a whole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10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is the first row of Table 2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encoder for both sentences (shared weights). |u-v| is the absolute difference of the two vectors, u*v is the element-by-element product. They let the classifier compare the two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InferSent. Max-pooling: for each of the 4096 positions keep the biggest value over all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accuracy = accuracy on the validation set. SGD = stochastic gradient descent, learning rate = step size of each update. Mixed precision (fp16) stores numbers with 16 bits to run faster. Two small differences from the paper: the rule for dividing the learning rate (the paper says when dev accuracy decreases) and the classifier (the paper says 1 hidden layer of 512 units).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accuracy was best at epoch 9 (83.88). Overfitting = very good on the training data but not better on new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Table 3 of the paper (SNLI test accuracy). Our code reproduces only the BiLSTM-max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other tasks used to test the frozen sentence vectors. Logistic regression is trained on top of the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Frozen = the encoder is not trained again. Logistic regression = a simple classifier trained on top of the sentence vectors. Accuracy = percent correct. Macro = plain average of the task scores; micro = average weighted by the size of each dev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MRPC: accuracy / F1. STS14: Pearson / Spearman. Difference = ours minus paper for the first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in three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of Universal Sentence Representations from Natural Language Inference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1371600" cy="548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the paper by Conneau, Kiela, Schwenk, Barrault and Bordes (EMNLP 2017)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 Porwal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DS  |  Final Year  |  Advanced Topics in ML (Mini Project)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roject pipeline diagram" descr="Project pipeline: four steps of what we built, how the project was run, a zoom on the model and on the transfer test, and the main result compared with the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293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5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6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NLI task and the SNLI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premise and a hypothesis</a:t>
            </a:r>
            <a: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of 3 labels.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Entailment: hypothesis must be true. Contradiction: cannot be true. </a:t>
            </a:r>
            <a: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could be either.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SNLI: about 570k human-written pairs. We train on 549,367 pairs that have a label.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 (9,842 pairs): used to pick the best epoch. Test set (9,824 pairs): used only for the final score.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280160"/>
            <a:ext cx="3749040" cy="283464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(paper, Table 2)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73736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Premise: "Two women are embracing while holding to go packages."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"Two woman are holding packages."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entailment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011680" cy="82296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743200"/>
            <a:ext cx="2011680" cy="82296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0" y="1280160"/>
            <a:ext cx="1828800" cy="2286000"/>
          </a:xfrm>
          <a:prstGeom prst="rect">
            <a:avLst/>
          </a:prstGeom>
          <a:solidFill>
            <a:srgbClr val="F4B6B6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34640" y="1353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1737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encoder for both. Gives vectors u and v (4096 numbers each).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1280160"/>
            <a:ext cx="1828800" cy="228600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1353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17373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u, v, |u - v|, u * v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(joined into one long vector)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132320" y="1280160"/>
            <a:ext cx="1645920" cy="2286000"/>
          </a:xfrm>
          <a:prstGeom prst="rect">
            <a:avLst/>
          </a:prstGeom>
          <a:solidFill>
            <a:srgbClr val="F4B6B6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1353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1737360"/>
            <a:ext cx="1463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of 512 units, then 3 outputs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4231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|u - v| = difference of the two vectors (absolute value).  u * v = multiply element by element.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encoder: BiLSTM with max-pooling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word into numbers with GloVe (ready-made word vectors, 300 numbers per word, not trained here).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BiLSTM reads the sentence left-to-right and right-to-left, giving one vector per word.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Max-pooling: for every dimension keep the largest value over all words.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vector of 4096 numbers for the whole sentence.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0" y="1280160"/>
            <a:ext cx="3200400" cy="292608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1353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encoders compared in the paper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73736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GRU, BiGRU-last, BiLSTM-mean, inner-attention, HConvNet and BiLSTM-max.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BiLSTM-max is trained and shown with our results here.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setup: paper vs our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83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SGD, learning rate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0.99 each epoch; divide by 5 if dev accuracy decreases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0.99 each epoch; divide by 5 if dev accuracy does not beat the best so far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&lt; 1e-5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 840B,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hidden layer of 512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layers of 512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T4 GPU, about 2.9 h, 12 epochs, mixed precision (fp16)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1: SNLI 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743200" cy="1005840"/>
          </a:xfrm>
          <a:prstGeom prst="rect">
            <a:avLst/>
          </a:prstGeom>
          <a:solidFill>
            <a:srgbClr val="F4B6B6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53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84.1%  |  Paper 84.5%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2743200" cy="100584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accuracy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83.9%  |  Paper 85.0%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57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 reaches 96.6% but dev stays about 84%: the model overfits (it memorises the training pairs).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474720" y="11887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which encoder is best? (paper, Table 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280160"/>
            <a:ext cx="2377440" cy="2926080"/>
          </a:xfrm>
          <a:prstGeom prst="rect">
            <a:avLst/>
          </a:prstGeom>
          <a:solidFill>
            <a:srgbClr val="FBE9E7"/>
          </a:solidFill>
          <a:ln w="12700">
            <a:solidFill>
              <a:srgbClr val="F4B6B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0" y="1353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73736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BiLSTM-max is best on SNLI and on transfer (micro 85.2, macro 83.7).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84.1 test, micro 85.1, macro 84.0.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transfer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3192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movie review positive or negative?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product review positive or negative?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sentence subjective or objective?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 opinion phrase positive or negative?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of a movie sentence (binary)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type of question is it (6 types)?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sentences mean the same (paraphrase)?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SICK-R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related are two sentences (score 0 to 5)?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SICK-E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Entailment, neutral or contradiction?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STS14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of two sentences (no training)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/ 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5537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/ Spearman = how closely our scores follow human scores (1.0 = perfect). F1 = a balance of precision and recall.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3: transfer to other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82296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= plain average of the task scores. Micro = average weighted by the number of dev samples.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A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85.1 / 84.0 (micro / macro), paper 85.2 / 83.7.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4: all 10 transfer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188720"/>
          <a:ext cx="6949440" cy="341985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MRPC (accuracy / F1)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 / 82.3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 / 81.8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SICK-R (Pearson)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SICK-E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STS14 (Pearson / Spearman)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.68 / 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.67 / 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BiLSTM with max-pooling trained on SNLI gives a general sentence encoder (paper claim).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replication reaches 84.1% on SNLI (paper 84.5%) and similar transfer scores on 10 tasks.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SNLI accuracy does not always mean better transfer, so the encoder design matters.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run the other encoders, embedding sizes and AllNLI (SNLI + MultiNLI) as in the paper.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A0C14"/>
          </a:solidFill>
          <a:ln w="12700">
            <a:solidFill>
              <a:srgbClr val="7A0C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 Porwal  |  B.Tech AI &amp; DS, Final Year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1212</Words>
  <Application>Microsoft Office PowerPoint</Application>
  <PresentationFormat>On-screen Show (16:9)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Sentence Representations from NLI - replication</dc:title>
  <dc:subject>PptxGenJS Presentation</dc:subject>
  <dc:creator>Janvi Porwal</dc:creator>
  <cp:lastModifiedBy>Janvi Porwal - 70562300006</cp:lastModifiedBy>
  <cp:revision>9</cp:revision>
  <dcterms:created xsi:type="dcterms:W3CDTF">2026-10-12T07:21:00Z</dcterms:created>
  <dcterms:modified xsi:type="dcterms:W3CDTF">2026-10-13T09:09:42Z</dcterms:modified>
</cp:coreProperties>
</file>