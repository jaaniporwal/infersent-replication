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Arial"/>
              </a:rPr>
              <a:t>Accuracy (%) per epoch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73.5</c:v>
                </c:pt>
                <c:pt idx="1">
                  <c:v>80.9</c:v>
                </c:pt>
                <c:pt idx="2">
                  <c:v>82.9</c:v>
                </c:pt>
                <c:pt idx="3">
                  <c:v>84.4</c:v>
                </c:pt>
                <c:pt idx="4">
                  <c:v>85.9</c:v>
                </c:pt>
                <c:pt idx="5">
                  <c:v>87.1</c:v>
                </c:pt>
                <c:pt idx="6">
                  <c:v>92.3</c:v>
                </c:pt>
                <c:pt idx="7">
                  <c:v>95.4</c:v>
                </c:pt>
                <c:pt idx="8">
                  <c:v>96.3</c:v>
                </c:pt>
                <c:pt idx="9">
                  <c:v>96.4</c:v>
                </c:pt>
                <c:pt idx="10">
                  <c:v>96.6</c:v>
                </c:pt>
                <c:pt idx="11">
                  <c:v>96.6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 accuracy</c:v>
                </c:pt>
              </c:strCache>
            </c:strRef>
          </c:tx>
          <c:spPr>
            <a:solidFill>
              <a:srgbClr val="B71C1C"/>
            </a:solidFill>
            <a:ln w="38100" cap="flat">
              <a:solidFill>
                <a:srgbClr val="B71C1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71C1C"/>
              </a:solidFill>
              <a:ln w="9525" cap="flat">
                <a:solidFill>
                  <a:srgbClr val="B71C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80.2</c:v>
                </c:pt>
                <c:pt idx="1">
                  <c:v>81.9</c:v>
                </c:pt>
                <c:pt idx="2">
                  <c:v>83</c:v>
                </c:pt>
                <c:pt idx="3">
                  <c:v>83.7</c:v>
                </c:pt>
                <c:pt idx="4">
                  <c:v>83.8</c:v>
                </c:pt>
                <c:pt idx="5">
                  <c:v>83.5</c:v>
                </c:pt>
                <c:pt idx="6">
                  <c:v>83.6</c:v>
                </c:pt>
                <c:pt idx="7">
                  <c:v>83.8</c:v>
                </c:pt>
                <c:pt idx="8">
                  <c:v>83.9</c:v>
                </c:pt>
                <c:pt idx="9">
                  <c:v>83.8</c:v>
                </c:pt>
                <c:pt idx="10">
                  <c:v>83.9</c:v>
                </c:pt>
                <c:pt idx="11">
                  <c:v>83.8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Arial"/>
              </a:rPr>
              <a:t>SNLI test accuracy (%), paper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SNLI test accuracy (paper)</c:v>
                </c:pt>
              </c:strCache>
            </c:strRef>
          </c:tx>
          <c:spPr>
            <a:solidFill>
              <a:srgbClr val="F4B6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4B6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B6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4B6B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6B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4B6B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4B6B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0C14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LSTM</c:v>
                  </c:pt>
                  <c:pt idx="1">
                    <c:v>GRU</c:v>
                  </c:pt>
                  <c:pt idx="2">
                    <c:v>BiGRU-last</c:v>
                  </c:pt>
                  <c:pt idx="3">
                    <c:v>BiLSTM-mean</c:v>
                  </c:pt>
                  <c:pt idx="4">
                    <c:v>Inner-att.</c:v>
                  </c:pt>
                  <c:pt idx="5">
                    <c:v>HConvNet</c:v>
                  </c:pt>
                  <c:pt idx="6">
                    <c:v>BiLSTM-max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80.7</c:v>
                </c:pt>
                <c:pt idx="1">
                  <c:v>81.8</c:v>
                </c:pt>
                <c:pt idx="2">
                  <c:v>80.9</c:v>
                </c:pt>
                <c:pt idx="3">
                  <c:v>78.2</c:v>
                </c:pt>
                <c:pt idx="4">
                  <c:v>82.5</c:v>
                </c:pt>
                <c:pt idx="5">
                  <c:v>83.4</c:v>
                </c:pt>
                <c:pt idx="6">
                  <c:v>84.5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"/>
          <c:min val="7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Arial"/>
              </a:rPr>
              <a:t>Accuracy (%), paper vs ours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MR</c:v>
                  </c:pt>
                  <c:pt idx="1">
                    <c:v>CR</c:v>
                  </c:pt>
                  <c:pt idx="2">
                    <c:v>SUBJ</c:v>
                  </c:pt>
                  <c:pt idx="3">
                    <c:v>MPQA</c:v>
                  </c:pt>
                  <c:pt idx="4">
                    <c:v>SST</c:v>
                  </c:pt>
                  <c:pt idx="5">
                    <c:v>TREC</c:v>
                  </c:pt>
                  <c:pt idx="6">
                    <c:v>MRPC</c:v>
                  </c:pt>
                  <c:pt idx="7">
                    <c:v>SICK-E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79.9</c:v>
                </c:pt>
                <c:pt idx="1">
                  <c:v>84.6</c:v>
                </c:pt>
                <c:pt idx="2">
                  <c:v>92.1</c:v>
                </c:pt>
                <c:pt idx="3">
                  <c:v>89.8</c:v>
                </c:pt>
                <c:pt idx="4">
                  <c:v>83.3</c:v>
                </c:pt>
                <c:pt idx="5">
                  <c:v>88.7</c:v>
                </c:pt>
                <c:pt idx="6">
                  <c:v>75.1</c:v>
                </c:pt>
                <c:pt idx="7">
                  <c:v>86.3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B7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MR</c:v>
                  </c:pt>
                  <c:pt idx="1">
                    <c:v>CR</c:v>
                  </c:pt>
                  <c:pt idx="2">
                    <c:v>SUBJ</c:v>
                  </c:pt>
                  <c:pt idx="3">
                    <c:v>MPQA</c:v>
                  </c:pt>
                  <c:pt idx="4">
                    <c:v>SST</c:v>
                  </c:pt>
                  <c:pt idx="5">
                    <c:v>TREC</c:v>
                  </c:pt>
                  <c:pt idx="6">
                    <c:v>MRPC</c:v>
                  </c:pt>
                  <c:pt idx="7">
                    <c:v>SICK-E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78.2</c:v>
                </c:pt>
                <c:pt idx="1">
                  <c:v>82.3</c:v>
                </c:pt>
                <c:pt idx="2">
                  <c:v>92.2</c:v>
                </c:pt>
                <c:pt idx="3">
                  <c:v>88.5</c:v>
                </c:pt>
                <c:pt idx="4">
                  <c:v>81.9</c:v>
                </c:pt>
                <c:pt idx="5">
                  <c:v>89.2</c:v>
                </c:pt>
                <c:pt idx="6">
                  <c:v>74.3</c:v>
                </c:pt>
                <c:pt idx="7">
                  <c:v>84.4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5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paper, the authors and that this is a replication done in PyTorch on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Word embeddings (GloVe, word2vec) are common. Many tasks need one vector for a whole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 ImageNet in vision: train on one big supervised task, reuse the learned model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is the first row of Table 2 in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encoder for both sentences (shared weights). |u-v| is the absolute difference of the two vectors, u*v is the element-by-element product. They let the classifier compare the two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InferSent. Max-pooling: for each of the 4096 positions keep the biggest value over all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accuracy = accuracy on the validation set. SGD = stochastic gradient descent, learning rate = step size of each update. Mixed precision (fp16) stores numbers with 16 bits to run faster. Two small differences from the paper: the rule for dividing the learning rate (the paper says when dev accuracy decreases) and the classifier (the paper says 1 hidden layer of 512 units).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Kaggle notebook in PyTorch. Each box is one step of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accuracy was best at epoch 9 (83.88). Overfitting = very good on the training data but not better on new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are the true label, columns are what the model predicted. Neutral is the hardest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Table 3 of the paper (SNLI test accuracy). Our code reproduces only the BiLSTM-max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other tasks used to test the frozen sentence vectors. Logistic regression is trained on top of the vectors.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Frozen = the encoder is not trained again. Logistic regression = a simple classifier trained on top of the sentence vectors. Accuracy = percent correct. Macro = plain average of the task scores; micro = average weighted by the size of each dev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MRPC: accuracy / F1. STS14: Pearson / Spearman. Difference = ours minus paper for the first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Running the same code twice changed some tasks by about 1 point, so small gaps are normal. Items marked Not run were not part of our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 in three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9144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Learning of Universal Sentence Representations from Natural Language Inference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1371600" cy="54864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697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of the paper by Conneau, Kiela, Schwenk, Barrault and Bordes (EMNLP 2017)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Janvi Porwal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AI &amp; DS  |  Final Year  |  Advanced Topics in ML (Mini Project)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we need sentence embeddings?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8229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embeddings (like GloVe) turn each word into a vector. They are widely used.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tasks need a vector for a whole sentence: sentiment, question type, paraphrase, similarity.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methods (SkipThought, FastSent) learn sentence vectors without labels and did not work well enough.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of the paper: can labelled data teach a good, general sentence encoder?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of the paper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371600"/>
            <a:ext cx="2651760" cy="210312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444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Train on NLI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2880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an encoder to read two sentences and say if one follows from the other (SNLI data).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651760" cy="2103120"/>
          </a:xfrm>
          <a:prstGeom prst="rect">
            <a:avLst/>
          </a:prstGeom>
          <a:solidFill>
            <a:srgbClr val="F4B6B6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83280" y="1444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Keep the encoder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182880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away the NLI classifier. The encoder maps any sentence to a fixed vector.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26480" y="1371600"/>
            <a:ext cx="2651760" cy="210312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1444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Reuse it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82880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these vectors, frozen, on other tasks (sentiment, questions, similarity...).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NLI? Deciding entailment needs real understanding of meaning, so the vectors carry general meaning.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NLI task and the SNLI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188720"/>
            <a:ext cx="4206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premise and a hypothesis. Output: one of 3 labels.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Entailment: hypothesis must be true. Contradiction: cannot be true. Neutral: could be either.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SNLI: about 570k human-written pairs. We train on 549,367 pairs that have a label.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set (9,842 pairs): used to pick the best epoch. Test set (9,824 pairs): used only for the final score.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937760" y="1280160"/>
            <a:ext cx="3749040" cy="283464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(paper, Table 2)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173736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Premise: "Two women are embracing while holding to go packages."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"Two woman are holding packages."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entailment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model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011680" cy="82296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65760" y="2743200"/>
            <a:ext cx="2011680" cy="82296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743200" y="1280160"/>
            <a:ext cx="1828800" cy="2286000"/>
          </a:xfrm>
          <a:prstGeom prst="rect">
            <a:avLst/>
          </a:prstGeom>
          <a:solidFill>
            <a:srgbClr val="F4B6B6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34640" y="13533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834640" y="1737360"/>
            <a:ext cx="1645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encoder for both. Gives vectors u and v (4096 numbers each).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937760" y="1280160"/>
            <a:ext cx="1828800" cy="228600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0" y="13533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1737360"/>
            <a:ext cx="1645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u, v, |u - v|, u * v 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(joined into one long vector)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132320" y="1280160"/>
            <a:ext cx="1645920" cy="2286000"/>
          </a:xfrm>
          <a:prstGeom prst="rect">
            <a:avLst/>
          </a:prstGeom>
          <a:solidFill>
            <a:srgbClr val="F4B6B6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23760" y="135331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1737360"/>
            <a:ext cx="1463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of 512 units, then 3 outputs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1691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3154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61772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81228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|u - v| = difference of the two vectors (absolute value).  u * v = multiply element by element.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encoder: BiLSTM with max-pooling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18872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each word into numbers with GloVe (ready-made word vectors, 300 numbers per word, not trained here).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BiLSTM reads the sentence left-to-right and right-to-left, giving one vector per word.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Max-pooling: for every dimension keep the largest value over all words.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one vector of 4096 numbers for the whole sentence.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0" y="1280160"/>
            <a:ext cx="3200400" cy="292608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577840" y="13533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encoders compared in the paper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173736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LSTM, GRU, BiGRU-last, BiLSTM-mean, inner-attention, HConvNet and BiLSTM-max.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BiLSTM-max is trained and shown with our results 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setup: paper vs our code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SGD, learning rate 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0.99 each epoch; divide by 5 if dev accuracy decreases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0.99 each epoch; divide by 5 if dev accuracy does not beat the best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 &lt; 1e-5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vectors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GloVe 840B,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hidden layer of 512 units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stacked layers of 512 units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 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T4 GPU, about 2.9 h, 12 epochs, mixed precision (fp16)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code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" y="1371600"/>
            <a:ext cx="1600200" cy="228600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14447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1828800"/>
            <a:ext cx="1417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SNLI: 549,367 training pairs with a label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057400" y="1371600"/>
            <a:ext cx="1600200" cy="2286000"/>
          </a:xfrm>
          <a:prstGeom prst="rect">
            <a:avLst/>
          </a:prstGeom>
          <a:solidFill>
            <a:srgbClr val="F4B6B6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48840" y="14447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Prepare words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1828800"/>
            <a:ext cx="1417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text into words; look up GloVe vectors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794760" y="1371600"/>
            <a:ext cx="1600200" cy="228600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86200" y="14447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1828800"/>
            <a:ext cx="1417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BiLSTM-max encoder + classifier, SGD, 12 epochs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532120" y="1371600"/>
            <a:ext cx="1600200" cy="2286000"/>
          </a:xfrm>
          <a:prstGeom prst="rect">
            <a:avLst/>
          </a:prstGeom>
          <a:solidFill>
            <a:srgbClr val="F4B6B6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623560" y="14447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Pick best model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623560" y="1828800"/>
            <a:ext cx="1417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epoch with the best dev accuracy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269480" y="1371600"/>
            <a:ext cx="1600200" cy="228600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60920" y="14447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Evaluate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360920" y="1828800"/>
            <a:ext cx="1417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SNLI test, then 10 other tasks with SentEval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are almost the same as the paper (differences on the previous slide). SentEval is the toolkit the paper authors made to test sentence vectors on many tasks.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1: SNLI accuracy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2743200" cy="1005840"/>
          </a:xfrm>
          <a:prstGeom prst="rect">
            <a:avLst/>
          </a:prstGeom>
          <a:solidFill>
            <a:srgbClr val="F4B6B6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353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37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84.1%  |  Paper 84.5%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2743200" cy="100584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5420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accuracy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926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83.9%  |  Paper 85.0%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accuracy reaches 96.6% but dev stays about 84%: the model overfits (it memorises the training pairs).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474720" y="11887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makes mistakes (SNLI test)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188720"/>
                <a:gridCol w="16459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label  \  Predicted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6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6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6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4747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counts of test pairs (9,824 in total); correct ones are on the diagonal.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accuracy: 8,258 correct out of 9,824 = 84.1%.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is hardest: it is easily confused with the other two labels.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2: which encoder is best? (paper, Table 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188720"/>
          <a:ext cx="56692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6400800" y="1280160"/>
            <a:ext cx="2377440" cy="2926080"/>
          </a:xfrm>
          <a:prstGeom prst="rect">
            <a:avLst/>
          </a:prstGeom>
          <a:solidFill>
            <a:srgbClr val="FBE9E7"/>
          </a:solidFill>
          <a:ln w="12700">
            <a:solidFill>
              <a:srgbClr val="F4B6B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9224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BiLSTM-max is best on SNLI and on transfer (micro 85.2, macro 83.7).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84.1 test, micro 85.1, macro 84.0.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 transfer tasks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  <a:gridCol w="21031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movie review positive or negative?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product review positive or negative?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sentence subjective or objective?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an opinion phrase positive or negative?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Sentiment of a movie sentence (binary)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type of question is it (6 types)?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sentences mean the same (paraphrase)?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/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SICK-R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related are two sentences (score 0 to 5)?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SICK-E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Entailment, neutral or contradiction?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of two sentences (no training)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 / Spearman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4553712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/ Spearman = how closely our scores follow human scores (1.0 = perfect). F1 = a balance of precision and recall.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3: transfer to other tasks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188720"/>
          <a:ext cx="8229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= plain average of the task scores. Micro = average weighted by the number of dev samples.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A0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85.1 / 84.0 (micro / macro), paper 85.2 / 83.7.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4: all 10 transfer tasks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188720"/>
          <a:ext cx="69494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914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MRPC (accuracy / F1)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 / 82.3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 / 81.8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SICK-R (Pearson)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SICK-E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STS14 (Pearson / Spearman)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.68 / 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.67 / .66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matches, what does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1737360"/>
                <a:gridCol w="137160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C1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SNLI test 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micro / macro average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 / 83.7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 / 84.0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SUBJ, TREC, SICK-R, MRPC, STS14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results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about 1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0C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(-1.7)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0C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(-2.3)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6 encoders (Table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0C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size study (Fig.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0C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COCO retrieval (Table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0C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AllNLI and SST rows (Table 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0C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B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1097280" cy="45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BiLSTM with max-pooling trained on SNLI gives a general sentence encoder (paper claim).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replication reaches 84.1% on SNLI (paper 84.5%) and similar transfer scores on 10 tasks.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SNLI accuracy does not always mean better transfer, so the encoder design matters.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run the other encoders, embedding sizes and AllNLI (SNLI + MultiNLI) as in the paper.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A0C14"/>
          </a:solidFill>
          <a:ln w="12700">
            <a:solidFill>
              <a:srgbClr val="7A0C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463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560320"/>
            <a:ext cx="1371600" cy="54864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743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B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Janvi Porwal  |  B.Tech AI &amp; DS, Final Year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Universal Sentence Representations from NLI - replication</dc:title>
  <dc:subject>PptxGenJS Presentation</dc:subject>
  <dc:creator>Janvi Porwal</dc:creator>
  <cp:lastModifiedBy>Janvi Porwal</cp:lastModifiedBy>
  <cp:revision>1</cp:revision>
  <dcterms:created xsi:type="dcterms:W3CDTF">2026-10-12T07:21:00Z</dcterms:created>
  <dcterms:modified xsi:type="dcterms:W3CDTF">2026-10-12T07:21:00Z</dcterms:modified>
</cp:coreProperties>
</file>